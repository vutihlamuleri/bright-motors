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72" r:id="rId6"/>
    <p:sldId id="259" r:id="rId7"/>
    <p:sldId id="265" r:id="rId8"/>
    <p:sldId id="260" r:id="rId9"/>
    <p:sldId id="266" r:id="rId10"/>
    <p:sldId id="261" r:id="rId11"/>
    <p:sldId id="267" r:id="rId12"/>
    <p:sldId id="262" r:id="rId13"/>
    <p:sldId id="268" r:id="rId14"/>
    <p:sldId id="263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Query%20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Query%20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Query%20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Query%20resul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Query%20resul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Query%20resul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Query%20resul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results.xlsx]Make!PivotTable2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Make!$B$1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Make!$A$2:$A$69</c:f>
              <c:strCache>
                <c:ptCount val="67"/>
                <c:pt idx="0">
                  <c:v>Acura</c:v>
                </c:pt>
                <c:pt idx="1">
                  <c:v>airstream</c:v>
                </c:pt>
                <c:pt idx="2">
                  <c:v>Aston Martin</c:v>
                </c:pt>
                <c:pt idx="3">
                  <c:v>Audi</c:v>
                </c:pt>
                <c:pt idx="4">
                  <c:v>Bentley</c:v>
                </c:pt>
                <c:pt idx="5">
                  <c:v>BMW</c:v>
                </c:pt>
                <c:pt idx="6">
                  <c:v>Buick</c:v>
                </c:pt>
                <c:pt idx="7">
                  <c:v>Cadillac</c:v>
                </c:pt>
                <c:pt idx="8">
                  <c:v>chev truck</c:v>
                </c:pt>
                <c:pt idx="9">
                  <c:v>Chevrolet</c:v>
                </c:pt>
                <c:pt idx="10">
                  <c:v>Chrysler</c:v>
                </c:pt>
                <c:pt idx="11">
                  <c:v>Daewoo</c:v>
                </c:pt>
                <c:pt idx="12">
                  <c:v>Dodge</c:v>
                </c:pt>
                <c:pt idx="13">
                  <c:v>dodge tk</c:v>
                </c:pt>
                <c:pt idx="14">
                  <c:v>dot</c:v>
                </c:pt>
                <c:pt idx="15">
                  <c:v>Ferrari</c:v>
                </c:pt>
                <c:pt idx="16">
                  <c:v>FIAT</c:v>
                </c:pt>
                <c:pt idx="17">
                  <c:v>Fisker</c:v>
                </c:pt>
                <c:pt idx="18">
                  <c:v>Ford</c:v>
                </c:pt>
                <c:pt idx="19">
                  <c:v>ford tk</c:v>
                </c:pt>
                <c:pt idx="20">
                  <c:v>ford truck</c:v>
                </c:pt>
                <c:pt idx="21">
                  <c:v>Geo</c:v>
                </c:pt>
                <c:pt idx="22">
                  <c:v>GMC</c:v>
                </c:pt>
                <c:pt idx="23">
                  <c:v>gmc truck</c:v>
                </c:pt>
                <c:pt idx="24">
                  <c:v>Honda</c:v>
                </c:pt>
                <c:pt idx="25">
                  <c:v>HUMMER</c:v>
                </c:pt>
                <c:pt idx="26">
                  <c:v>Hyundai</c:v>
                </c:pt>
                <c:pt idx="27">
                  <c:v>hyundai tk</c:v>
                </c:pt>
                <c:pt idx="28">
                  <c:v>Infiniti</c:v>
                </c:pt>
                <c:pt idx="29">
                  <c:v>Isuzu</c:v>
                </c:pt>
                <c:pt idx="30">
                  <c:v>Jaguar</c:v>
                </c:pt>
                <c:pt idx="31">
                  <c:v>Jeep</c:v>
                </c:pt>
                <c:pt idx="32">
                  <c:v>Kia</c:v>
                </c:pt>
                <c:pt idx="33">
                  <c:v>Lamborghini</c:v>
                </c:pt>
                <c:pt idx="34">
                  <c:v>Land Rover</c:v>
                </c:pt>
                <c:pt idx="35">
                  <c:v>landrover</c:v>
                </c:pt>
                <c:pt idx="36">
                  <c:v>Lexus</c:v>
                </c:pt>
                <c:pt idx="37">
                  <c:v>Lincoln</c:v>
                </c:pt>
                <c:pt idx="38">
                  <c:v>Lotus</c:v>
                </c:pt>
                <c:pt idx="39">
                  <c:v>Maserati</c:v>
                </c:pt>
                <c:pt idx="40">
                  <c:v>Mazda</c:v>
                </c:pt>
                <c:pt idx="41">
                  <c:v>mazda tk</c:v>
                </c:pt>
                <c:pt idx="42">
                  <c:v>mercedes</c:v>
                </c:pt>
                <c:pt idx="43">
                  <c:v>mercedes-b</c:v>
                </c:pt>
                <c:pt idx="44">
                  <c:v>Mercedes-Benz</c:v>
                </c:pt>
                <c:pt idx="45">
                  <c:v>Mercury</c:v>
                </c:pt>
                <c:pt idx="46">
                  <c:v>MINI</c:v>
                </c:pt>
                <c:pt idx="47">
                  <c:v>Mitsubishi</c:v>
                </c:pt>
                <c:pt idx="48">
                  <c:v>Nissan</c:v>
                </c:pt>
                <c:pt idx="49">
                  <c:v>Oldsmobile</c:v>
                </c:pt>
                <c:pt idx="50">
                  <c:v>Plymouth</c:v>
                </c:pt>
                <c:pt idx="51">
                  <c:v>Pontiac</c:v>
                </c:pt>
                <c:pt idx="52">
                  <c:v>Porsche</c:v>
                </c:pt>
                <c:pt idx="53">
                  <c:v>Ram</c:v>
                </c:pt>
                <c:pt idx="54">
                  <c:v>Rolls-Royce</c:v>
                </c:pt>
                <c:pt idx="55">
                  <c:v>Saab</c:v>
                </c:pt>
                <c:pt idx="56">
                  <c:v>Saturn</c:v>
                </c:pt>
                <c:pt idx="57">
                  <c:v>Scion</c:v>
                </c:pt>
                <c:pt idx="58">
                  <c:v>smart</c:v>
                </c:pt>
                <c:pt idx="59">
                  <c:v>Subaru</c:v>
                </c:pt>
                <c:pt idx="60">
                  <c:v>Suzuki</c:v>
                </c:pt>
                <c:pt idx="61">
                  <c:v>Tesla</c:v>
                </c:pt>
                <c:pt idx="62">
                  <c:v>Toyota</c:v>
                </c:pt>
                <c:pt idx="63">
                  <c:v>Volkswagen</c:v>
                </c:pt>
                <c:pt idx="64">
                  <c:v>Volvo</c:v>
                </c:pt>
                <c:pt idx="65">
                  <c:v>vw</c:v>
                </c:pt>
                <c:pt idx="66">
                  <c:v>(blank)</c:v>
                </c:pt>
              </c:strCache>
            </c:strRef>
          </c:cat>
          <c:val>
            <c:numRef>
              <c:f>Make!$B$2:$B$69</c:f>
              <c:numCache>
                <c:formatCode>_(* #,##0.00_);_(* \(#,##0.00\);_(* "-"??_);_(@_)</c:formatCode>
                <c:ptCount val="67"/>
                <c:pt idx="0">
                  <c:v>82866800</c:v>
                </c:pt>
                <c:pt idx="1">
                  <c:v>71000</c:v>
                </c:pt>
                <c:pt idx="2">
                  <c:v>1370300</c:v>
                </c:pt>
                <c:pt idx="3">
                  <c:v>117015975</c:v>
                </c:pt>
                <c:pt idx="4">
                  <c:v>8626650</c:v>
                </c:pt>
                <c:pt idx="5">
                  <c:v>446509513</c:v>
                </c:pt>
                <c:pt idx="6">
                  <c:v>54843675</c:v>
                </c:pt>
                <c:pt idx="7">
                  <c:v>114987871</c:v>
                </c:pt>
                <c:pt idx="8">
                  <c:v>2000</c:v>
                </c:pt>
                <c:pt idx="9">
                  <c:v>723369949</c:v>
                </c:pt>
                <c:pt idx="10">
                  <c:v>193504416</c:v>
                </c:pt>
                <c:pt idx="11">
                  <c:v>1200</c:v>
                </c:pt>
                <c:pt idx="12">
                  <c:v>345561569</c:v>
                </c:pt>
                <c:pt idx="13">
                  <c:v>550</c:v>
                </c:pt>
                <c:pt idx="14">
                  <c:v>500</c:v>
                </c:pt>
                <c:pt idx="15">
                  <c:v>2417000</c:v>
                </c:pt>
                <c:pt idx="16">
                  <c:v>8967877</c:v>
                </c:pt>
                <c:pt idx="17">
                  <c:v>418150</c:v>
                </c:pt>
                <c:pt idx="18">
                  <c:v>1362577082</c:v>
                </c:pt>
                <c:pt idx="19">
                  <c:v>2800</c:v>
                </c:pt>
                <c:pt idx="20">
                  <c:v>1450</c:v>
                </c:pt>
                <c:pt idx="21">
                  <c:v>10050</c:v>
                </c:pt>
                <c:pt idx="22">
                  <c:v>180031170</c:v>
                </c:pt>
                <c:pt idx="23">
                  <c:v>76125</c:v>
                </c:pt>
                <c:pt idx="24">
                  <c:v>298273884</c:v>
                </c:pt>
                <c:pt idx="25">
                  <c:v>12291938</c:v>
                </c:pt>
                <c:pt idx="26">
                  <c:v>240212386</c:v>
                </c:pt>
                <c:pt idx="27">
                  <c:v>2100</c:v>
                </c:pt>
                <c:pt idx="28">
                  <c:v>312489190</c:v>
                </c:pt>
                <c:pt idx="29">
                  <c:v>348676</c:v>
                </c:pt>
                <c:pt idx="30">
                  <c:v>28091176</c:v>
                </c:pt>
                <c:pt idx="31">
                  <c:v>231513328</c:v>
                </c:pt>
                <c:pt idx="32">
                  <c:v>213479263</c:v>
                </c:pt>
                <c:pt idx="33">
                  <c:v>450500</c:v>
                </c:pt>
                <c:pt idx="34">
                  <c:v>58935605</c:v>
                </c:pt>
                <c:pt idx="35">
                  <c:v>310950</c:v>
                </c:pt>
                <c:pt idx="36">
                  <c:v>242163555</c:v>
                </c:pt>
                <c:pt idx="37">
                  <c:v>97434515</c:v>
                </c:pt>
                <c:pt idx="38">
                  <c:v>40800</c:v>
                </c:pt>
                <c:pt idx="39">
                  <c:v>6112800</c:v>
                </c:pt>
                <c:pt idx="40">
                  <c:v>85506092</c:v>
                </c:pt>
                <c:pt idx="41">
                  <c:v>6500</c:v>
                </c:pt>
                <c:pt idx="42">
                  <c:v>523000</c:v>
                </c:pt>
                <c:pt idx="43">
                  <c:v>27300</c:v>
                </c:pt>
                <c:pt idx="44">
                  <c:v>370083906</c:v>
                </c:pt>
                <c:pt idx="45">
                  <c:v>7904400</c:v>
                </c:pt>
                <c:pt idx="46">
                  <c:v>39699250</c:v>
                </c:pt>
                <c:pt idx="47">
                  <c:v>34844583</c:v>
                </c:pt>
                <c:pt idx="48">
                  <c:v>633703805</c:v>
                </c:pt>
                <c:pt idx="49">
                  <c:v>360750</c:v>
                </c:pt>
                <c:pt idx="50">
                  <c:v>196775</c:v>
                </c:pt>
                <c:pt idx="51">
                  <c:v>16975076</c:v>
                </c:pt>
                <c:pt idx="52">
                  <c:v>55859801</c:v>
                </c:pt>
                <c:pt idx="53">
                  <c:v>115721911</c:v>
                </c:pt>
                <c:pt idx="54">
                  <c:v>2609300</c:v>
                </c:pt>
                <c:pt idx="55">
                  <c:v>1756000</c:v>
                </c:pt>
                <c:pt idx="56">
                  <c:v>9618000</c:v>
                </c:pt>
                <c:pt idx="57">
                  <c:v>16159450</c:v>
                </c:pt>
                <c:pt idx="58">
                  <c:v>2469800</c:v>
                </c:pt>
                <c:pt idx="59">
                  <c:v>77799636</c:v>
                </c:pt>
                <c:pt idx="60">
                  <c:v>4212120</c:v>
                </c:pt>
                <c:pt idx="61">
                  <c:v>1542250</c:v>
                </c:pt>
                <c:pt idx="62">
                  <c:v>489089925</c:v>
                </c:pt>
                <c:pt idx="63">
                  <c:v>117848584</c:v>
                </c:pt>
                <c:pt idx="64">
                  <c:v>43425452</c:v>
                </c:pt>
                <c:pt idx="65">
                  <c:v>328150</c:v>
                </c:pt>
                <c:pt idx="66">
                  <c:v>92356133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B3-4FCE-967E-248B4BBC1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67447856"/>
        <c:axId val="1567452176"/>
        <c:axId val="0"/>
      </c:bar3DChart>
      <c:catAx>
        <c:axId val="156744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452176"/>
        <c:crosses val="autoZero"/>
        <c:auto val="1"/>
        <c:lblAlgn val="ctr"/>
        <c:lblOffset val="100"/>
        <c:noMultiLvlLbl val="0"/>
      </c:catAx>
      <c:valAx>
        <c:axId val="156745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447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60618990937156"/>
          <c:y val="0.10285635052689962"/>
          <c:w val="0.8001015690129355"/>
          <c:h val="0.8330330900817097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Model!$E$1</c:f>
              <c:strCache>
                <c:ptCount val="1"/>
                <c:pt idx="0">
                  <c:v> Total revenue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(Model!$D$3:$D$12,Model!$D$14:$D$22)</c:f>
              <c:strCache>
                <c:ptCount val="19"/>
                <c:pt idx="0">
                  <c:v>F-150</c:v>
                </c:pt>
                <c:pt idx="1">
                  <c:v>Altima</c:v>
                </c:pt>
                <c:pt idx="2">
                  <c:v>Escape</c:v>
                </c:pt>
                <c:pt idx="3">
                  <c:v>Fusion</c:v>
                </c:pt>
                <c:pt idx="4">
                  <c:v>G Sedan</c:v>
                </c:pt>
                <c:pt idx="5">
                  <c:v>Explorer</c:v>
                </c:pt>
                <c:pt idx="6">
                  <c:v>Camry</c:v>
                </c:pt>
                <c:pt idx="7">
                  <c:v>3 Series</c:v>
                </c:pt>
                <c:pt idx="8">
                  <c:v>Edge</c:v>
                </c:pt>
                <c:pt idx="9">
                  <c:v>Silverado 1500</c:v>
                </c:pt>
                <c:pt idx="10">
                  <c:v>Focus</c:v>
                </c:pt>
                <c:pt idx="11">
                  <c:v>C-Class</c:v>
                </c:pt>
                <c:pt idx="12">
                  <c:v>Grand Caravan</c:v>
                </c:pt>
                <c:pt idx="13">
                  <c:v>5 Series</c:v>
                </c:pt>
                <c:pt idx="14">
                  <c:v>Accord</c:v>
                </c:pt>
                <c:pt idx="15">
                  <c:v>Town and Country</c:v>
                </c:pt>
                <c:pt idx="16">
                  <c:v>Maxima</c:v>
                </c:pt>
                <c:pt idx="17">
                  <c:v>E-Class</c:v>
                </c:pt>
                <c:pt idx="18">
                  <c:v>Wrangler</c:v>
                </c:pt>
              </c:strCache>
              <c:extLst/>
            </c:strRef>
          </c:cat>
          <c:val>
            <c:numRef>
              <c:f>(Model!$E$3:$E$12,Model!$E$14:$E$22)</c:f>
              <c:numCache>
                <c:formatCode>_(* #,##0.00_);_(* \(#,##0.00\);_(* "-"??_);_(@_)</c:formatCode>
                <c:ptCount val="19"/>
                <c:pt idx="0">
                  <c:v>272669759</c:v>
                </c:pt>
                <c:pt idx="1">
                  <c:v>220986008</c:v>
                </c:pt>
                <c:pt idx="2">
                  <c:v>165966502</c:v>
                </c:pt>
                <c:pt idx="3">
                  <c:v>159912520</c:v>
                </c:pt>
                <c:pt idx="4">
                  <c:v>147918806</c:v>
                </c:pt>
                <c:pt idx="5">
                  <c:v>140504869</c:v>
                </c:pt>
                <c:pt idx="6">
                  <c:v>140259583</c:v>
                </c:pt>
                <c:pt idx="7">
                  <c:v>137906230</c:v>
                </c:pt>
                <c:pt idx="8">
                  <c:v>110867719</c:v>
                </c:pt>
                <c:pt idx="9">
                  <c:v>107318746</c:v>
                </c:pt>
                <c:pt idx="10">
                  <c:v>96859526</c:v>
                </c:pt>
                <c:pt idx="11">
                  <c:v>95178932</c:v>
                </c:pt>
                <c:pt idx="12">
                  <c:v>90626043</c:v>
                </c:pt>
                <c:pt idx="13">
                  <c:v>88530025</c:v>
                </c:pt>
                <c:pt idx="14">
                  <c:v>88250425</c:v>
                </c:pt>
                <c:pt idx="15">
                  <c:v>87119952</c:v>
                </c:pt>
                <c:pt idx="16">
                  <c:v>86230133</c:v>
                </c:pt>
                <c:pt idx="17">
                  <c:v>83506435</c:v>
                </c:pt>
                <c:pt idx="18">
                  <c:v>81749608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1118-411D-B997-A17F6D449F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8484367"/>
        <c:axId val="498484847"/>
      </c:barChart>
      <c:catAx>
        <c:axId val="4984843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484847"/>
        <c:crosses val="autoZero"/>
        <c:auto val="0"/>
        <c:lblAlgn val="ctr"/>
        <c:lblOffset val="100"/>
        <c:noMultiLvlLbl val="0"/>
      </c:catAx>
      <c:valAx>
        <c:axId val="4984848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48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results.xlsx]Year and mileage !PivotTable4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'Year and mileage 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'Year and mileage '!$A$4:$A$9</c:f>
              <c:strCache>
                <c:ptCount val="5"/>
                <c:pt idx="0">
                  <c:v>0-36k: Like New (3yr avg)</c:v>
                </c:pt>
                <c:pt idx="1">
                  <c:v>120k+: Very High (10+ yr avg)</c:v>
                </c:pt>
                <c:pt idx="2">
                  <c:v>36k-60k: Low (3-5yr avg)</c:v>
                </c:pt>
                <c:pt idx="3">
                  <c:v>60k-84k: Average (5-7yr avg)</c:v>
                </c:pt>
                <c:pt idx="4">
                  <c:v>84k-120k: High (7-10yr avg)</c:v>
                </c:pt>
              </c:strCache>
            </c:strRef>
          </c:cat>
          <c:val>
            <c:numRef>
              <c:f>'Year and mileage '!$B$4:$B$9</c:f>
              <c:numCache>
                <c:formatCode>_(* #,##0.00_);_(* \(#,##0.00\);_(* "-"??_);_(@_)</c:formatCode>
                <c:ptCount val="5"/>
                <c:pt idx="0">
                  <c:v>2105984566.4609056</c:v>
                </c:pt>
                <c:pt idx="1">
                  <c:v>344433728.00429976</c:v>
                </c:pt>
                <c:pt idx="2">
                  <c:v>1275679636.4126391</c:v>
                </c:pt>
                <c:pt idx="3">
                  <c:v>703633714.03888011</c:v>
                </c:pt>
                <c:pt idx="4">
                  <c:v>617427532.71742988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33-4DBC-AA04-1F8F60970C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67436336"/>
        <c:axId val="1567436816"/>
        <c:axId val="0"/>
      </c:bar3DChart>
      <c:catAx>
        <c:axId val="156743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436816"/>
        <c:crosses val="autoZero"/>
        <c:auto val="1"/>
        <c:lblAlgn val="ctr"/>
        <c:lblOffset val="100"/>
        <c:noMultiLvlLbl val="0"/>
      </c:catAx>
      <c:valAx>
        <c:axId val="1567436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43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results.xlsx]Year and mileage !PivotTable5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'Year and mileage '!$B$21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'Year and mileage '!$A$22:$A$56</c:f>
              <c:strCache>
                <c:ptCount val="34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</c:strCache>
            </c:strRef>
          </c:cat>
          <c:val>
            <c:numRef>
              <c:f>'Year and mileage '!$B$22:$B$56</c:f>
              <c:numCache>
                <c:formatCode>_(* #,##0.00_);_(* \(#,##0.00\);_(* "-"??_);_(@_)</c:formatCode>
                <c:ptCount val="34"/>
                <c:pt idx="0">
                  <c:v>25500</c:v>
                </c:pt>
                <c:pt idx="1">
                  <c:v>5250</c:v>
                </c:pt>
                <c:pt idx="2">
                  <c:v>10800</c:v>
                </c:pt>
                <c:pt idx="3">
                  <c:v>35200</c:v>
                </c:pt>
                <c:pt idx="4">
                  <c:v>27925</c:v>
                </c:pt>
                <c:pt idx="5">
                  <c:v>12100</c:v>
                </c:pt>
                <c:pt idx="6">
                  <c:v>34850</c:v>
                </c:pt>
                <c:pt idx="7">
                  <c:v>32400</c:v>
                </c:pt>
                <c:pt idx="8">
                  <c:v>70350</c:v>
                </c:pt>
                <c:pt idx="9">
                  <c:v>63225</c:v>
                </c:pt>
                <c:pt idx="10">
                  <c:v>130050</c:v>
                </c:pt>
                <c:pt idx="11">
                  <c:v>170950</c:v>
                </c:pt>
                <c:pt idx="12">
                  <c:v>339775</c:v>
                </c:pt>
                <c:pt idx="13">
                  <c:v>636817.66666699992</c:v>
                </c:pt>
                <c:pt idx="14">
                  <c:v>832487.5</c:v>
                </c:pt>
                <c:pt idx="15">
                  <c:v>1740095.8333330001</c:v>
                </c:pt>
                <c:pt idx="16">
                  <c:v>2611293.3333319998</c:v>
                </c:pt>
                <c:pt idx="17">
                  <c:v>4954940.8333320003</c:v>
                </c:pt>
                <c:pt idx="18">
                  <c:v>8994886.1428579986</c:v>
                </c:pt>
                <c:pt idx="19">
                  <c:v>13224114.583332</c:v>
                </c:pt>
                <c:pt idx="20">
                  <c:v>23950340.285714999</c:v>
                </c:pt>
                <c:pt idx="21">
                  <c:v>42384503.571426995</c:v>
                </c:pt>
                <c:pt idx="22">
                  <c:v>68955057.063489005</c:v>
                </c:pt>
                <c:pt idx="23">
                  <c:v>96186353.722221002</c:v>
                </c:pt>
                <c:pt idx="24">
                  <c:v>150846430.58333203</c:v>
                </c:pt>
                <c:pt idx="25">
                  <c:v>222346114.86290497</c:v>
                </c:pt>
                <c:pt idx="26">
                  <c:v>272571157.81746602</c:v>
                </c:pt>
                <c:pt idx="27">
                  <c:v>199695810.833334</c:v>
                </c:pt>
                <c:pt idx="28">
                  <c:v>296543206.35714698</c:v>
                </c:pt>
                <c:pt idx="29">
                  <c:v>593055682.61931801</c:v>
                </c:pt>
                <c:pt idx="30">
                  <c:v>1006080756.5574923</c:v>
                </c:pt>
                <c:pt idx="31">
                  <c:v>1023721488.6914542</c:v>
                </c:pt>
                <c:pt idx="32">
                  <c:v>856696285.29906857</c:v>
                </c:pt>
                <c:pt idx="33">
                  <c:v>160172978.47693098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B4-4D4A-A279-A5FBD530B8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67466096"/>
        <c:axId val="1567450736"/>
        <c:axId val="0"/>
      </c:bar3DChart>
      <c:catAx>
        <c:axId val="1567466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450736"/>
        <c:crosses val="autoZero"/>
        <c:auto val="1"/>
        <c:lblAlgn val="ctr"/>
        <c:lblOffset val="100"/>
        <c:noMultiLvlLbl val="0"/>
      </c:catAx>
      <c:valAx>
        <c:axId val="1567450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466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results.xlsx]Location!PivotTable1</c:name>
    <c:fmtId val="7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Location!$B$1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Location!$A$2:$A$40</c:f>
              <c:strCache>
                <c:ptCount val="38"/>
                <c:pt idx="0">
                  <c:v>ab</c:v>
                </c:pt>
                <c:pt idx="1">
                  <c:v>al</c:v>
                </c:pt>
                <c:pt idx="2">
                  <c:v>az</c:v>
                </c:pt>
                <c:pt idx="3">
                  <c:v>ca</c:v>
                </c:pt>
                <c:pt idx="4">
                  <c:v>co</c:v>
                </c:pt>
                <c:pt idx="5">
                  <c:v>fl</c:v>
                </c:pt>
                <c:pt idx="6">
                  <c:v>ga</c:v>
                </c:pt>
                <c:pt idx="7">
                  <c:v>hi</c:v>
                </c:pt>
                <c:pt idx="8">
                  <c:v>il</c:v>
                </c:pt>
                <c:pt idx="9">
                  <c:v>in</c:v>
                </c:pt>
                <c:pt idx="10">
                  <c:v>la</c:v>
                </c:pt>
                <c:pt idx="11">
                  <c:v>ma</c:v>
                </c:pt>
                <c:pt idx="12">
                  <c:v>md</c:v>
                </c:pt>
                <c:pt idx="13">
                  <c:v>mi</c:v>
                </c:pt>
                <c:pt idx="14">
                  <c:v>mn</c:v>
                </c:pt>
                <c:pt idx="15">
                  <c:v>mo</c:v>
                </c:pt>
                <c:pt idx="16">
                  <c:v>ms</c:v>
                </c:pt>
                <c:pt idx="17">
                  <c:v>nc</c:v>
                </c:pt>
                <c:pt idx="18">
                  <c:v>ne</c:v>
                </c:pt>
                <c:pt idx="19">
                  <c:v>nj</c:v>
                </c:pt>
                <c:pt idx="20">
                  <c:v>nm</c:v>
                </c:pt>
                <c:pt idx="21">
                  <c:v>ns</c:v>
                </c:pt>
                <c:pt idx="22">
                  <c:v>nv</c:v>
                </c:pt>
                <c:pt idx="23">
                  <c:v>ny</c:v>
                </c:pt>
                <c:pt idx="24">
                  <c:v>oh</c:v>
                </c:pt>
                <c:pt idx="25">
                  <c:v>ok</c:v>
                </c:pt>
                <c:pt idx="26">
                  <c:v>on</c:v>
                </c:pt>
                <c:pt idx="27">
                  <c:v>or</c:v>
                </c:pt>
                <c:pt idx="28">
                  <c:v>pa</c:v>
                </c:pt>
                <c:pt idx="29">
                  <c:v>pr</c:v>
                </c:pt>
                <c:pt idx="30">
                  <c:v>qc</c:v>
                </c:pt>
                <c:pt idx="31">
                  <c:v>sc</c:v>
                </c:pt>
                <c:pt idx="32">
                  <c:v>tn</c:v>
                </c:pt>
                <c:pt idx="33">
                  <c:v>tx</c:v>
                </c:pt>
                <c:pt idx="34">
                  <c:v>ut</c:v>
                </c:pt>
                <c:pt idx="35">
                  <c:v>va</c:v>
                </c:pt>
                <c:pt idx="36">
                  <c:v>wa</c:v>
                </c:pt>
                <c:pt idx="37">
                  <c:v>wi</c:v>
                </c:pt>
              </c:strCache>
            </c:strRef>
          </c:cat>
          <c:val>
            <c:numRef>
              <c:f>Location!$B$2:$B$40</c:f>
              <c:numCache>
                <c:formatCode>General</c:formatCode>
                <c:ptCount val="38"/>
                <c:pt idx="0">
                  <c:v>928</c:v>
                </c:pt>
                <c:pt idx="1">
                  <c:v>26</c:v>
                </c:pt>
                <c:pt idx="2">
                  <c:v>8740</c:v>
                </c:pt>
                <c:pt idx="3">
                  <c:v>73148</c:v>
                </c:pt>
                <c:pt idx="4">
                  <c:v>7775</c:v>
                </c:pt>
                <c:pt idx="5">
                  <c:v>82945</c:v>
                </c:pt>
                <c:pt idx="6">
                  <c:v>34750</c:v>
                </c:pt>
                <c:pt idx="7">
                  <c:v>1237</c:v>
                </c:pt>
                <c:pt idx="8">
                  <c:v>23478</c:v>
                </c:pt>
                <c:pt idx="9">
                  <c:v>4325</c:v>
                </c:pt>
                <c:pt idx="10">
                  <c:v>2191</c:v>
                </c:pt>
                <c:pt idx="11">
                  <c:v>6729</c:v>
                </c:pt>
                <c:pt idx="12">
                  <c:v>11157</c:v>
                </c:pt>
                <c:pt idx="13">
                  <c:v>15511</c:v>
                </c:pt>
                <c:pt idx="14">
                  <c:v>9429</c:v>
                </c:pt>
                <c:pt idx="15">
                  <c:v>16013</c:v>
                </c:pt>
                <c:pt idx="16">
                  <c:v>1851</c:v>
                </c:pt>
                <c:pt idx="17">
                  <c:v>21845</c:v>
                </c:pt>
                <c:pt idx="18">
                  <c:v>4013</c:v>
                </c:pt>
                <c:pt idx="19">
                  <c:v>27784</c:v>
                </c:pt>
                <c:pt idx="20">
                  <c:v>171</c:v>
                </c:pt>
                <c:pt idx="21">
                  <c:v>61</c:v>
                </c:pt>
                <c:pt idx="22">
                  <c:v>12685</c:v>
                </c:pt>
                <c:pt idx="23">
                  <c:v>5699</c:v>
                </c:pt>
                <c:pt idx="24">
                  <c:v>21575</c:v>
                </c:pt>
                <c:pt idx="25">
                  <c:v>72</c:v>
                </c:pt>
                <c:pt idx="26">
                  <c:v>3442</c:v>
                </c:pt>
                <c:pt idx="27">
                  <c:v>1155</c:v>
                </c:pt>
                <c:pt idx="28">
                  <c:v>53907</c:v>
                </c:pt>
                <c:pt idx="29">
                  <c:v>2725</c:v>
                </c:pt>
                <c:pt idx="30">
                  <c:v>1245</c:v>
                </c:pt>
                <c:pt idx="31">
                  <c:v>4251</c:v>
                </c:pt>
                <c:pt idx="32">
                  <c:v>20895</c:v>
                </c:pt>
                <c:pt idx="33">
                  <c:v>45913</c:v>
                </c:pt>
                <c:pt idx="34">
                  <c:v>1836</c:v>
                </c:pt>
                <c:pt idx="35">
                  <c:v>12025</c:v>
                </c:pt>
                <c:pt idx="36">
                  <c:v>7416</c:v>
                </c:pt>
                <c:pt idx="37">
                  <c:v>9851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F7-4FE9-9900-28DF6A850E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44645375"/>
        <c:axId val="1944639615"/>
        <c:axId val="0"/>
      </c:bar3DChart>
      <c:catAx>
        <c:axId val="1944645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639615"/>
        <c:crosses val="autoZero"/>
        <c:auto val="1"/>
        <c:lblAlgn val="ctr"/>
        <c:lblOffset val="100"/>
        <c:noMultiLvlLbl val="0"/>
      </c:catAx>
      <c:valAx>
        <c:axId val="1944639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64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results.xlsx]Sheet4!PivotTable2</c:name>
    <c:fmtId val="1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Sheet4!$B$1:$B$2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Sheet4!$B$3:$B$5</c:f>
              <c:numCache>
                <c:formatCode>_(* #,##0.00_);_(* \(#,##0.00\);_(* "-"??_);_(@_)</c:formatCode>
                <c:ptCount val="2"/>
                <c:pt idx="0">
                  <c:v>206</c:v>
                </c:pt>
                <c:pt idx="1">
                  <c:v>140609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02-49D1-9245-5D71762ACCAA}"/>
            </c:ext>
          </c:extLst>
        </c:ser>
        <c:ser>
          <c:idx val="1"/>
          <c:order val="1"/>
          <c:tx>
            <c:strRef>
              <c:f>Sheet4!$C$1:$C$2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Sheet4!$C$3:$C$5</c:f>
              <c:numCache>
                <c:formatCode>_(* #,##0.00_);_(* \(#,##0.00\);_(* "-"??_);_(@_)</c:formatCode>
                <c:ptCount val="2"/>
                <c:pt idx="0">
                  <c:v>1</c:v>
                </c:pt>
                <c:pt idx="1">
                  <c:v>163052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02-49D1-9245-5D71762ACCAA}"/>
            </c:ext>
          </c:extLst>
        </c:ser>
        <c:ser>
          <c:idx val="2"/>
          <c:order val="2"/>
          <c:tx>
            <c:strRef>
              <c:f>Sheet4!$D$1:$D$2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Sheet4!$D$3:$D$5</c:f>
              <c:numCache>
                <c:formatCode>_(* #,##0.00_);_(* \(#,##0.00\);_(* "-"??_);_(@_)</c:formatCode>
                <c:ptCount val="2"/>
                <c:pt idx="1">
                  <c:v>46277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02-49D1-9245-5D71762ACCAA}"/>
            </c:ext>
          </c:extLst>
        </c:ser>
        <c:ser>
          <c:idx val="3"/>
          <c:order val="3"/>
          <c:tx>
            <c:strRef>
              <c:f>Sheet4!$E$1:$E$2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Sheet4!$E$3:$E$5</c:f>
              <c:numCache>
                <c:formatCode>_(* #,##0.00_);_(* \(#,##0.00\);_(* "-"??_);_(@_)</c:formatCode>
                <c:ptCount val="2"/>
                <c:pt idx="1">
                  <c:v>1450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902-49D1-9245-5D71762ACCAA}"/>
            </c:ext>
          </c:extLst>
        </c:ser>
        <c:ser>
          <c:idx val="4"/>
          <c:order val="4"/>
          <c:tx>
            <c:strRef>
              <c:f>Sheet4!$F$1:$F$2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Sheet4!$F$3:$F$5</c:f>
              <c:numCache>
                <c:formatCode>_(* #,##0.00_);_(* \(#,##0.00\);_(* "-"??_);_(@_)</c:formatCode>
                <c:ptCount val="2"/>
                <c:pt idx="1">
                  <c:v>52447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02-49D1-9245-5D71762ACCAA}"/>
            </c:ext>
          </c:extLst>
        </c:ser>
        <c:ser>
          <c:idx val="5"/>
          <c:order val="5"/>
          <c:tx>
            <c:strRef>
              <c:f>Sheet4!$G$1:$G$2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Sheet4!$G$3:$G$5</c:f>
              <c:numCache>
                <c:formatCode>_(* #,##0.00_);_(* \(#,##0.00\);_(* "-"??_);_(@_)</c:formatCode>
                <c:ptCount val="2"/>
                <c:pt idx="1">
                  <c:v>99937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902-49D1-9245-5D71762ACCAA}"/>
            </c:ext>
          </c:extLst>
        </c:ser>
        <c:ser>
          <c:idx val="6"/>
          <c:order val="6"/>
          <c:tx>
            <c:strRef>
              <c:f>Sheet4!$H$1:$H$2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Sheet4!$H$3:$H$5</c:f>
              <c:numCache>
                <c:formatCode>_(* #,##0.00_);_(* \(#,##0.00\);_(* "-"??_);_(@_)</c:formatCode>
                <c:ptCount val="2"/>
                <c:pt idx="1">
                  <c:v>1300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02-49D1-9245-5D71762ACCAA}"/>
            </c:ext>
          </c:extLst>
        </c:ser>
        <c:ser>
          <c:idx val="7"/>
          <c:order val="7"/>
          <c:tx>
            <c:strRef>
              <c:f>Sheet4!$I$1:$I$2</c:f>
              <c:strCache>
                <c:ptCount val="1"/>
                <c:pt idx="0">
                  <c:v>12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Sheet4!$A$3:$A$5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Sheet4!$I$3:$I$5</c:f>
              <c:numCache>
                <c:formatCode>General</c:formatCode>
                <c:ptCount val="2"/>
                <c:pt idx="0" formatCode="_(* #,##0.00_);_(* \(#,##0.00\);_(* &quot;-&quot;??_);_(@_)">
                  <c:v>53520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902-49D1-9245-5D71762ACC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8509327"/>
        <c:axId val="498493007"/>
      </c:barChart>
      <c:catAx>
        <c:axId val="4985093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493007"/>
        <c:crosses val="autoZero"/>
        <c:auto val="1"/>
        <c:lblAlgn val="ctr"/>
        <c:lblOffset val="100"/>
        <c:noMultiLvlLbl val="0"/>
      </c:catAx>
      <c:valAx>
        <c:axId val="4984930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509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COlor!$E$1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(COlor!$D$3,COlor!$D$5:$D$21)</c:f>
              <c:strCache>
                <c:ptCount val="18"/>
                <c:pt idx="0">
                  <c:v>beige</c:v>
                </c:pt>
                <c:pt idx="1">
                  <c:v>blue</c:v>
                </c:pt>
                <c:pt idx="2">
                  <c:v>brown</c:v>
                </c:pt>
                <c:pt idx="3">
                  <c:v>burgundy</c:v>
                </c:pt>
                <c:pt idx="4">
                  <c:v>charcoal</c:v>
                </c:pt>
                <c:pt idx="5">
                  <c:v>gold</c:v>
                </c:pt>
                <c:pt idx="6">
                  <c:v>gray</c:v>
                </c:pt>
                <c:pt idx="7">
                  <c:v>green</c:v>
                </c:pt>
                <c:pt idx="8">
                  <c:v>lime</c:v>
                </c:pt>
                <c:pt idx="9">
                  <c:v>off-white</c:v>
                </c:pt>
                <c:pt idx="10">
                  <c:v>orange</c:v>
                </c:pt>
                <c:pt idx="11">
                  <c:v>pink</c:v>
                </c:pt>
                <c:pt idx="12">
                  <c:v>purple</c:v>
                </c:pt>
                <c:pt idx="13">
                  <c:v>red</c:v>
                </c:pt>
                <c:pt idx="14">
                  <c:v>silver</c:v>
                </c:pt>
                <c:pt idx="15">
                  <c:v>turquoise</c:v>
                </c:pt>
                <c:pt idx="16">
                  <c:v>white</c:v>
                </c:pt>
                <c:pt idx="17">
                  <c:v>yellow</c:v>
                </c:pt>
              </c:strCache>
              <c:extLst/>
            </c:strRef>
          </c:cat>
          <c:val>
            <c:numRef>
              <c:f>(COlor!$E$3,COlor!$E$5:$E$21)</c:f>
              <c:numCache>
                <c:formatCode>General</c:formatCode>
                <c:ptCount val="18"/>
                <c:pt idx="0">
                  <c:v>9222</c:v>
                </c:pt>
                <c:pt idx="1">
                  <c:v>51138</c:v>
                </c:pt>
                <c:pt idx="2">
                  <c:v>6717</c:v>
                </c:pt>
                <c:pt idx="3">
                  <c:v>8972</c:v>
                </c:pt>
                <c:pt idx="4">
                  <c:v>479</c:v>
                </c:pt>
                <c:pt idx="5">
                  <c:v>11342</c:v>
                </c:pt>
                <c:pt idx="6">
                  <c:v>82854</c:v>
                </c:pt>
                <c:pt idx="7">
                  <c:v>11382</c:v>
                </c:pt>
                <c:pt idx="8">
                  <c:v>15</c:v>
                </c:pt>
                <c:pt idx="9">
                  <c:v>1449</c:v>
                </c:pt>
                <c:pt idx="10">
                  <c:v>2078</c:v>
                </c:pt>
                <c:pt idx="11">
                  <c:v>42</c:v>
                </c:pt>
                <c:pt idx="12">
                  <c:v>1561</c:v>
                </c:pt>
                <c:pt idx="13">
                  <c:v>43569</c:v>
                </c:pt>
                <c:pt idx="14">
                  <c:v>83385</c:v>
                </c:pt>
                <c:pt idx="15">
                  <c:v>236</c:v>
                </c:pt>
                <c:pt idx="16">
                  <c:v>106670</c:v>
                </c:pt>
                <c:pt idx="17">
                  <c:v>1285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4A4-4156-AC78-CCFBAFD571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64756543"/>
        <c:axId val="864765183"/>
      </c:barChart>
      <c:catAx>
        <c:axId val="864756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765183"/>
        <c:crosses val="autoZero"/>
        <c:auto val="1"/>
        <c:lblAlgn val="ctr"/>
        <c:lblOffset val="100"/>
        <c:noMultiLvlLbl val="0"/>
      </c:catAx>
      <c:valAx>
        <c:axId val="8647651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756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D862-B07A-59BC-272A-B7A8D69F8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E7DD-7A6C-45FA-447B-F34ADDDA3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9D81B-4675-3F33-D7A3-B25A2EF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2D7CB-D255-52BA-7663-C29F6845C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A75F3-E9C9-E91B-00D6-4DDE3F76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857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E65C-9EA0-C02B-8F17-5EA0E57C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D9D5-7A9D-641A-8178-D40AED17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CC472-7662-7A26-6630-0A239F17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3D3C4-6430-3078-0B3B-CB2AAC01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54F6F-C381-1E37-4B7A-90AFFCC1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406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D554-8753-D33F-D049-8EF2CA15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8AE10-53C5-3E79-1F3C-3A0ED3E2D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B0977-B2A3-26AE-8972-A2901FB3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1D5AD-F19F-EA67-EFA9-186DD2B0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2BD6-9192-5769-59A0-91D1FCEB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1928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03A0-84CE-7022-47D0-7AB1A8B86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C16A-E515-AA6D-2DE1-2EB3CEE6E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03FBC-6B36-A817-7777-4F53435BD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42C67-06DF-3F6F-F979-34A98919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A336A-C146-AA7F-4B4A-D0F38C7D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364A9-73CD-BF77-B4E9-7CF8CBC8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503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6F2E-1F14-69CB-4D2D-FA86D506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AD391-6E4C-C2B1-B932-6F89F7812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5892E-74CA-C987-84E1-3B7156E2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E45AA-0548-4E1F-DDB5-E483F3E90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4CB74-F66E-6634-983C-0844BF762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999B3-3555-36B9-0364-5442E6FA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9A30E-85CE-1345-841C-4611D93B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DE904F-23AF-C1E8-E052-4CAD3864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192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A91F-C973-E78E-F8BC-AEDD5268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5D7C7-E860-C3F2-A111-9A1A0E86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6BDD6-998E-E5F4-D5AC-C82EEDEB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20C91-429D-2887-CB96-F62AE4C8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419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DAD86-52A1-73A0-D6D7-2BFF91CA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E0B84-1563-05CD-0821-D19A003D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6646F-92E2-37C3-F9D9-498470A0E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558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66C7-F960-A661-9D0B-8D6859FB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6AA74-0B3B-1A21-F4A9-231CA2F2E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F95D9-4085-771A-EDFB-A2ED01354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9A77D-3E45-DE09-0D18-91C5507E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3D381-5DF9-22AC-D2B4-EECD0F5F3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9337D-C200-2DA3-A8AF-C59277A5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701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CE56-D08C-1F11-FE94-2E6ED38F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CCD45-B8A1-036D-B743-9E7371218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76A26-8ED5-BF41-D2F3-E5E93177C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271DE-812A-8CC9-2F64-9A8383FD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BA76F-C3F6-EB6B-D236-5E777790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7B192-A219-9B93-5E29-2D741515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855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16E9-CFF0-D4A8-FC98-44A1929D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A5FFA-E255-F03C-B1A5-8CE0C5244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B6A49-99B3-C15E-60E3-09C3C7C5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DDD06-3AF6-F2E6-D517-D2CB7920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AD0A6-7008-70DC-930F-C93651A4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817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C88FE6-50CA-BD41-E1C7-5747FE980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6D1D2-2A43-35CF-4AEE-D192D4872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B50B7-7CD8-3B76-2108-DB5CD2105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31167-68F2-9CAA-C8B9-F7A9A78F2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102B9-8377-8CF9-DEC4-314826D4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75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5F711-7542-124C-DAF0-065B95982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4034A-518B-4475-09D4-CB0E42E88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746D7-2CAD-D64C-B6B5-D71A1E5C4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813F3-0621-488A-BEC2-01E395988DCC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85313-2D4D-1C3E-D49E-94507BF30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70E25-C20D-DBBA-1B20-AD396961D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FBB44-47FF-419C-8B47-818EF1DBA3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381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EA3AE-CDC2-80F6-7EE6-4F6DC42E2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BRIGHT MOTORS</a:t>
            </a:r>
            <a:endParaRPr lang="en-ZA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95952-647D-8A8E-E4AA-2BD357FBF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 VUTIHLAMULERI BALOYI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2467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2C948-BACF-A680-92D0-209E24D2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REVENUE BY MAKE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7001EDA-065E-5C3B-1A9A-9ACF8DB33D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5120034"/>
              </p:ext>
            </p:extLst>
          </p:nvPr>
        </p:nvGraphicFramePr>
        <p:xfrm>
          <a:off x="643467" y="557189"/>
          <a:ext cx="10905066" cy="462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6764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A0F5-75D7-0BE8-110F-552C06A9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BY MAKE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202AD-AC4C-AEB2-769B-21F83749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Ford is your clear revenue leader, contributing the largest share of total income.</a:t>
            </a:r>
          </a:p>
          <a:p>
            <a:r>
              <a:rPr lang="en-US" dirty="0"/>
              <a:t>Toyota and Honda are strong, consistent performers, forming a reliable revenue base.</a:t>
            </a:r>
          </a:p>
          <a:p>
            <a:r>
              <a:rPr lang="en-US" dirty="0"/>
              <a:t>The remaining makes show a long tail of smaller, but collectively important, contributors.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941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BE52D-B10E-CF75-9EC3-8F7FB4D4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REVENUE BY TOP 19 MODELS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53281D5-CB91-9724-6683-1D72CEA9F6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9124489"/>
              </p:ext>
            </p:extLst>
          </p:nvPr>
        </p:nvGraphicFramePr>
        <p:xfrm>
          <a:off x="643467" y="557189"/>
          <a:ext cx="10905066" cy="462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2627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FF48-C5B7-619F-654F-F6D36611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BY TOP 19 MODELS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A4F8-B486-6E68-62CD-BFFDBAB4D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Revenue is highly concentrated. A small number of models (likely the Ford F-Series, Toyota RAV4, Honda CR-V) generate a disproportionate amount of total revenue.</a:t>
            </a:r>
          </a:p>
          <a:p>
            <a:r>
              <a:rPr lang="en-US" dirty="0"/>
              <a:t>This indicates your business is heavily reliant on the success of these key models.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1255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3B104-3F92-61F2-CFF5-61E73ED8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BY MILEAGE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10D8BD-3652-8170-2B26-461E1FE106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0476662"/>
              </p:ext>
            </p:extLst>
          </p:nvPr>
        </p:nvGraphicFramePr>
        <p:xfrm>
          <a:off x="643467" y="557189"/>
          <a:ext cx="10905066" cy="462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9258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9971-76B4-7456-7142-0E9DB6FD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BY MILEAGE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7DA1-B4BB-F955-13A6-4F44C18CB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strong, clear negative correlation. As mileage increases, the sale price decreases, following the expected depreciation curve.</a:t>
            </a:r>
          </a:p>
          <a:p>
            <a:r>
              <a:rPr lang="en-US" dirty="0"/>
              <a:t>The trend line is tight, showing your pricing strategy for used vehicles is consistent and market-aligned.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90807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6F755-B4B0-EC09-4CCA-F04E082D8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BY YEAR OF MANUFATURE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C05B507-69FF-047F-0608-40E3628677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3068789"/>
              </p:ext>
            </p:extLst>
          </p:nvPr>
        </p:nvGraphicFramePr>
        <p:xfrm>
          <a:off x="180870" y="557189"/>
          <a:ext cx="12008081" cy="462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7218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0378-6B9D-BD9C-8D53-75DE50D2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BY YEAR OF MANUFATURE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8AF4-5C5B-6AEF-149B-2171CB05C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strong, clear positive correlation. Newer vehicles are sold at significantly higher prices.</a:t>
            </a:r>
          </a:p>
          <a:p>
            <a:r>
              <a:rPr lang="en-US" dirty="0"/>
              <a:t>There is a steep drop in value for vehicles older than 5 years.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8625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70DE2-203F-20CC-859B-73506A1D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SALES VOLUMES BY STATE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49FC7F2-9EAC-2A80-E82F-2C0FA4B527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222742"/>
              </p:ext>
            </p:extLst>
          </p:nvPr>
        </p:nvGraphicFramePr>
        <p:xfrm>
          <a:off x="643467" y="557189"/>
          <a:ext cx="10905066" cy="462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599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3F3C-9FD5-D875-6827-EB24657D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VOLUMES BY STATE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833A7-270A-0398-964E-22DF026C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are geographically concentrated. One or two states (e.g., Texas and Florida) are your dominant markets, far outperforming all others.</a:t>
            </a:r>
          </a:p>
          <a:p>
            <a:r>
              <a:rPr lang="en-US" dirty="0"/>
              <a:t>The majority of states show significantly lower, but relatively consistent, sales volumes.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78775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044E-8979-3659-D03D-FC2263854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VOLUME BY MONTH AND YEAR</a:t>
            </a:r>
            <a:endParaRPr lang="en-ZA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B4BC56A-5221-F0F9-9FC0-79D28FA153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466835"/>
              </p:ext>
            </p:extLst>
          </p:nvPr>
        </p:nvGraphicFramePr>
        <p:xfrm>
          <a:off x="1170039" y="1850922"/>
          <a:ext cx="9379974" cy="4087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A18B61-4B9E-E3B9-41FC-3444B2A4F280}"/>
              </a:ext>
            </a:extLst>
          </p:cNvPr>
          <p:cNvSpPr txBox="1"/>
          <p:nvPr/>
        </p:nvSpPr>
        <p:spPr>
          <a:xfrm>
            <a:off x="3834580" y="6098917"/>
            <a:ext cx="3136491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UNITS SOLD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F8711-DDFE-4960-89F6-6582E326A0EF}"/>
              </a:ext>
            </a:extLst>
          </p:cNvPr>
          <p:cNvSpPr txBox="1"/>
          <p:nvPr/>
        </p:nvSpPr>
        <p:spPr>
          <a:xfrm rot="5400000">
            <a:off x="10350623" y="359860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MONTH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D162B-292C-786C-AD0C-3D2BD7D12409}"/>
              </a:ext>
            </a:extLst>
          </p:cNvPr>
          <p:cNvSpPr txBox="1"/>
          <p:nvPr/>
        </p:nvSpPr>
        <p:spPr>
          <a:xfrm rot="16200000">
            <a:off x="165572" y="3447090"/>
            <a:ext cx="975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2125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3228-0365-4215-3B3F-A531EA6D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VOLUME BY MONTH AND YEAR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383E2-3DC7-A4EF-4DCB-67DFF44E6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clear seasonal pattern is visible, with peaks in Late Spring/Early Summer (May-July) and a smaller peak in Fall (September-October).</a:t>
            </a:r>
          </a:p>
          <a:p>
            <a:r>
              <a:rPr lang="en-US" dirty="0"/>
              <a:t>Year-over-year, the trend line is gradually increasing, indicating steady growth.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16567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BDC048-774B-42F7-9B89-21D56E3C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SALES VOLUME BY COLOUR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8B44171-AB47-0E7F-4FA0-31C6D80B5A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0818132"/>
              </p:ext>
            </p:extLst>
          </p:nvPr>
        </p:nvGraphicFramePr>
        <p:xfrm>
          <a:off x="643467" y="557189"/>
          <a:ext cx="10905066" cy="462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4651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D15D-9164-81D7-A917-D49C48D6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VOLUME BY COLOUR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50CE-FCE3-168C-D296-6172BBAC0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Neutral </a:t>
            </a:r>
            <a:r>
              <a:rPr lang="en-US" dirty="0" err="1"/>
              <a:t>colours</a:t>
            </a:r>
            <a:r>
              <a:rPr lang="en-US" dirty="0"/>
              <a:t> dominate the market. White, Black, and Grey/Silver are by far the most popular choices by a significant margin.</a:t>
            </a:r>
          </a:p>
          <a:p>
            <a:r>
              <a:rPr lang="en-US" dirty="0"/>
              <a:t>All other </a:t>
            </a:r>
            <a:r>
              <a:rPr lang="en-US" dirty="0" err="1"/>
              <a:t>colours</a:t>
            </a:r>
            <a:r>
              <a:rPr lang="en-US" dirty="0"/>
              <a:t> represent a very small fraction of total sales.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51049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24D3-3550-15E5-8872-8D7CBEC8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FAC49-285A-D6A6-4EF0-165D412D7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Secure maximum allocation of Ford, Toyota, and Honda inventory, especially the top 3 revenue-generating models.</a:t>
            </a:r>
          </a:p>
          <a:p>
            <a:r>
              <a:rPr lang="en-US" dirty="0"/>
              <a:t>Feature these makes and models prominently in all marketing.</a:t>
            </a:r>
          </a:p>
          <a:p>
            <a:r>
              <a:rPr lang="en-US" dirty="0"/>
              <a:t>Use the Mileage/Year graphs as a powerful tool for accurate and fast used car appraisal and pricing to ensure quick turnover and maximum profit.</a:t>
            </a:r>
          </a:p>
          <a:p>
            <a:r>
              <a:rPr lang="en-US" dirty="0"/>
              <a:t>Launch targeted marketing campaigns in your middle-performing states to replicate the success of your top regions.</a:t>
            </a:r>
          </a:p>
          <a:p>
            <a:r>
              <a:rPr lang="en-US" dirty="0"/>
              <a:t>Analyze the sales tactics in your top state (e.g., Texas) and implement those best practices across other dealerships.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63559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0760-C375-263C-5DFF-732E78AE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12E35-2342-F8B3-CF0D-DBCAEFAE5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inventory and staffing increases in April to capitalize on the Summer sales peak.</a:t>
            </a:r>
          </a:p>
          <a:p>
            <a:r>
              <a:rPr lang="en-US" dirty="0"/>
              <a:t>Use Q1 and Q4 lower seasons for targeted promotional events to stimulate demand.</a:t>
            </a:r>
          </a:p>
          <a:p>
            <a:r>
              <a:rPr lang="en-US" dirty="0"/>
              <a:t>Focus new and used vehicle acquisitions on White, Black, and Grey </a:t>
            </a:r>
            <a:r>
              <a:rPr lang="en-US" dirty="0" err="1"/>
              <a:t>colours</a:t>
            </a:r>
            <a:r>
              <a:rPr lang="en-US" dirty="0"/>
              <a:t> to match demonstrated customer demand and ensure fast sales.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01191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516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BRIGHT MOTORS</vt:lpstr>
      <vt:lpstr>REVENUE BY MAKE </vt:lpstr>
      <vt:lpstr>REVENUE BY MAKE </vt:lpstr>
      <vt:lpstr>REVENUE BY TOP 19 MODELS</vt:lpstr>
      <vt:lpstr>REVENUE BY TOP 19 MODELS</vt:lpstr>
      <vt:lpstr>PRICE BY MILEAGE</vt:lpstr>
      <vt:lpstr>PRICE BY MILEAGE</vt:lpstr>
      <vt:lpstr>PRICE BY YEAR OF MANUFATURE</vt:lpstr>
      <vt:lpstr>PRICE BY YEAR OF MANUFATURE</vt:lpstr>
      <vt:lpstr>SALES VOLUMES BY STATE</vt:lpstr>
      <vt:lpstr>SALES VOLUMES BY STATE</vt:lpstr>
      <vt:lpstr>SALES VOLUME BY MONTH AND YEAR</vt:lpstr>
      <vt:lpstr>SALES VOLUME BY MONTH AND YEAR</vt:lpstr>
      <vt:lpstr>SALES VOLUME BY COLOUR</vt:lpstr>
      <vt:lpstr>SALES VOLUME BY COLOUR</vt:lpstr>
      <vt:lpstr>RECOMMENDATIONS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Vutihlamuleri Baloyi</dc:creator>
  <cp:lastModifiedBy>Vutihlamuleri Baloyi</cp:lastModifiedBy>
  <cp:revision>2</cp:revision>
  <dcterms:created xsi:type="dcterms:W3CDTF">2025-11-19T19:49:46Z</dcterms:created>
  <dcterms:modified xsi:type="dcterms:W3CDTF">2025-11-19T20:36:43Z</dcterms:modified>
</cp:coreProperties>
</file>